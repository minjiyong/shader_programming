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25"/>
  </p:notesMasterIdLst>
  <p:sldIdLst>
    <p:sldId id="256" r:id="rId2"/>
    <p:sldId id="523" r:id="rId3"/>
    <p:sldId id="524" r:id="rId4"/>
    <p:sldId id="525" r:id="rId5"/>
    <p:sldId id="526" r:id="rId6"/>
    <p:sldId id="527" r:id="rId7"/>
    <p:sldId id="531" r:id="rId8"/>
    <p:sldId id="532" r:id="rId9"/>
    <p:sldId id="535" r:id="rId10"/>
    <p:sldId id="536" r:id="rId11"/>
    <p:sldId id="530" r:id="rId12"/>
    <p:sldId id="533" r:id="rId13"/>
    <p:sldId id="534" r:id="rId14"/>
    <p:sldId id="537" r:id="rId15"/>
    <p:sldId id="538" r:id="rId16"/>
    <p:sldId id="539" r:id="rId17"/>
    <p:sldId id="541" r:id="rId18"/>
    <p:sldId id="540" r:id="rId19"/>
    <p:sldId id="529" r:id="rId20"/>
    <p:sldId id="542" r:id="rId21"/>
    <p:sldId id="543" r:id="rId22"/>
    <p:sldId id="545" r:id="rId23"/>
    <p:sldId id="546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3" autoAdjust="0"/>
    <p:restoredTop sz="94660"/>
  </p:normalViewPr>
  <p:slideViewPr>
    <p:cSldViewPr>
      <p:cViewPr>
        <p:scale>
          <a:sx n="150" d="100"/>
          <a:sy n="150" d="100"/>
        </p:scale>
        <p:origin x="54" y="-23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34835-998C-48F3-922B-834DDD525EE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2D599-627B-48A2-BB2C-C81EC15F9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03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6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1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6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3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0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3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9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3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33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1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8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21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79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3794" y="643467"/>
            <a:ext cx="9600217" cy="3585834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 err="1"/>
              <a:t>셰이더</a:t>
            </a:r>
            <a:r>
              <a:rPr lang="ko-KR" altLang="en-US" sz="7200" dirty="0"/>
              <a:t> 프로그래밍</a:t>
            </a:r>
            <a:br>
              <a:rPr lang="en-US" altLang="ko-KR" sz="7200" dirty="0"/>
            </a:br>
            <a:r>
              <a:rPr lang="en-US" altLang="ko-KR" sz="7200" dirty="0"/>
              <a:t>Lecture6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/>
              <a:t>2025</a:t>
            </a:r>
            <a:r>
              <a:rPr lang="ko-KR" altLang="en-US" sz="3200"/>
              <a:t>년 </a:t>
            </a:r>
            <a:r>
              <a:rPr lang="en-US" altLang="ko-KR" sz="3200"/>
              <a:t>2</a:t>
            </a:r>
            <a:r>
              <a:rPr lang="ko-KR" altLang="en-US" sz="3200"/>
              <a:t>학기</a:t>
            </a:r>
            <a:endParaRPr lang="en-US" altLang="ko-KR" sz="3200"/>
          </a:p>
          <a:p>
            <a:pPr algn="l"/>
            <a:r>
              <a:rPr lang="ko-KR" altLang="en-US" sz="3200"/>
              <a:t>담당교수 </a:t>
            </a:r>
            <a:r>
              <a:rPr lang="en-US" altLang="ko-KR" sz="3200"/>
              <a:t>: </a:t>
            </a:r>
            <a:r>
              <a:rPr lang="ko-KR" altLang="en-US" sz="3200"/>
              <a:t>게임공학과 이택희</a:t>
            </a:r>
          </a:p>
        </p:txBody>
      </p:sp>
    </p:spTree>
    <p:extLst>
      <p:ext uri="{BB962C8B-B14F-4D97-AF65-F5344CB8AC3E}">
        <p14:creationId xmlns:p14="http://schemas.microsoft.com/office/powerpoint/2010/main" val="353691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705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제목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14" name="내용 개체 틀 13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 err="1"/>
              <a:t>빛샘효과</a:t>
            </a:r>
            <a:endParaRPr lang="en-US" altLang="ko-KR" dirty="0"/>
          </a:p>
          <a:p>
            <a:pPr lvl="1"/>
            <a:r>
              <a:rPr lang="ko-KR" altLang="en-US" dirty="0"/>
              <a:t>강한 빛은 실제로 빛이 발생하고 있는 영역 보다 넓은 영역을 차지함</a:t>
            </a:r>
            <a:endParaRPr lang="en-US" altLang="ko-KR" dirty="0"/>
          </a:p>
        </p:txBody>
      </p:sp>
      <p:pic>
        <p:nvPicPr>
          <p:cNvPr id="1026" name="Picture 2" descr="https://learnopengl.com/img/advanced-lighting/bloom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7058" y="3717032"/>
            <a:ext cx="7653418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5133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 err="1"/>
              <a:t>파티클과</a:t>
            </a:r>
            <a:r>
              <a:rPr lang="ko-KR" altLang="en-US" dirty="0"/>
              <a:t> 같이 빛을 발생시키는 오브젝트의 경우 </a:t>
            </a:r>
            <a:r>
              <a:rPr lang="en-US" altLang="ko-KR" dirty="0"/>
              <a:t>Bloom </a:t>
            </a:r>
            <a:r>
              <a:rPr lang="ko-KR" altLang="en-US" dirty="0"/>
              <a:t>효과가 필수적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2FF71A1-CF40-CAB6-AE98-408D9941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864" y="3208866"/>
            <a:ext cx="2736304" cy="2816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222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Bloom </a:t>
            </a:r>
            <a:r>
              <a:rPr lang="ko-KR" altLang="en-US" dirty="0"/>
              <a:t>효과는 아래와 같은 단계로 이루어 짐</a:t>
            </a:r>
            <a:endParaRPr lang="en-US" altLang="ko-KR" dirty="0"/>
          </a:p>
          <a:p>
            <a:pPr lvl="1"/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  <a:endParaRPr lang="en-US" altLang="ko-KR" dirty="0"/>
          </a:p>
          <a:p>
            <a:pPr lvl="1"/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  <a:endParaRPr lang="en-US" altLang="ko-KR" dirty="0"/>
          </a:p>
          <a:p>
            <a:pPr lvl="1"/>
            <a:r>
              <a:rPr lang="ko-KR" altLang="en-US" dirty="0"/>
              <a:t>원래 영상과 합성하여 최종 렌더링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451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  <a:endParaRPr lang="en-US" altLang="ko-KR" dirty="0"/>
          </a:p>
        </p:txBody>
      </p:sp>
      <p:pic>
        <p:nvPicPr>
          <p:cNvPr id="2050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384" y="2895112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Bright regions extracted of a scene for the bloom or glow post-processing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850" y="2887494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545AA3C1-6B86-A6BB-44A5-10A7AD6ABE3E}"/>
              </a:ext>
            </a:extLst>
          </p:cNvPr>
          <p:cNvSpPr/>
          <p:nvPr/>
        </p:nvSpPr>
        <p:spPr>
          <a:xfrm>
            <a:off x="5807968" y="4221088"/>
            <a:ext cx="648072" cy="1190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543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BBEBA6-297D-3A2F-C9D6-FABA1F459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DC178-C4F3-F3DD-DADC-B8AC10E92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GL_COLOR_ATTACHMENT0 :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결과를 그대로 출력하는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 : m_HDRRT0_0</a:t>
            </a:r>
          </a:p>
          <a:p>
            <a:pPr lvl="1"/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GL_COLOR_ATTACHMENT1 : 1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보다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큰 결과만 출력하는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 : m_ HDRRT0_1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41760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A919F0-5B7C-FD89-8E65-0156E18733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(FBO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8127A8-800A-301D-A90D-3CF84DF69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glGenFramebuffers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(1, &amp;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GL_COLOR_ATTACHMENT0,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GL_COLOR_ATTACHMENT1,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m_HDRHighTexture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status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glCheckFramebufferStatus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 (status != GL_FRAMEBUFFER_COMPLETE)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&lt;&lt;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creation failed" &lt;&lt; 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4871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06946F-0700-8511-47D0-3FC8DEFE5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(fs</a:t>
            </a:r>
            <a:r>
              <a:rPr lang="ko-KR" altLang="en-US" dirty="0"/>
              <a:t>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315223-13EC-7DF1-E8FA-9F622119E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layout(location=1)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Textured()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v_UV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)*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float brightness = dot(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result.rgb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vec3(0.2126, 0.7152, 0.0722));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result;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if(brightness &gt; 1.0)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result;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else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FragColorHigh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Textured();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4888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831F5D-3521-E0E6-2E5C-312BD0FA3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882807" cy="1456267"/>
          </a:xfrm>
        </p:spPr>
        <p:txBody>
          <a:bodyPr/>
          <a:lstStyle/>
          <a:p>
            <a:r>
              <a:rPr lang="en-US" altLang="ko-KR" dirty="0"/>
              <a:t>Color 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세기를 </a:t>
            </a:r>
            <a:r>
              <a:rPr lang="en-US" altLang="ko-KR" dirty="0"/>
              <a:t>HDR Texture</a:t>
            </a:r>
            <a:r>
              <a:rPr lang="ko-KR" altLang="en-US" dirty="0"/>
              <a:t>에 출력 </a:t>
            </a:r>
            <a:r>
              <a:rPr lang="en-US" altLang="ko-KR" dirty="0"/>
              <a:t>(draw</a:t>
            </a:r>
            <a:r>
              <a:rPr lang="ko-KR" altLang="en-US" dirty="0"/>
              <a:t> 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36C120-FCA9-A206-ABF9-B0C9204A08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[2] = { GL_COLOR_ATTACHMENT0, GL_COLOR_ATTACHMENT1 };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en-US" altLang="ko-KR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~~~ Render particles</a:t>
            </a:r>
          </a:p>
          <a:p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6301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  <a:endParaRPr lang="en-US" altLang="ko-KR" dirty="0"/>
          </a:p>
        </p:txBody>
      </p:sp>
      <p:pic>
        <p:nvPicPr>
          <p:cNvPr id="5" name="Picture 2" descr="Bright regions extracted of a scene for the bloom or glow post-processing effect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92" y="2780928"/>
            <a:ext cx="4848617" cy="3794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Bright regions extracted for glow or bloom effect are blurred in OpenGL">
            <a:extLst>
              <a:ext uri="{FF2B5EF4-FFF2-40B4-BE49-F238E27FC236}">
                <a16:creationId xmlns:a16="http://schemas.microsoft.com/office/drawing/2014/main" id="{9C885B61-CBDD-45F6-8E93-65E3499EDE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276" y="2774868"/>
            <a:ext cx="4848617" cy="380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화살표: 오른쪽 5">
            <a:extLst>
              <a:ext uri="{FF2B5EF4-FFF2-40B4-BE49-F238E27FC236}">
                <a16:creationId xmlns:a16="http://schemas.microsoft.com/office/drawing/2014/main" id="{DA66D63E-BE48-8787-D36D-FADFC7586B06}"/>
              </a:ext>
            </a:extLst>
          </p:cNvPr>
          <p:cNvSpPr/>
          <p:nvPr/>
        </p:nvSpPr>
        <p:spPr>
          <a:xfrm>
            <a:off x="5807968" y="4221088"/>
            <a:ext cx="648072" cy="11905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6526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AE5E9-F676-3B05-4EA4-AED9232A0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F4FDF9-58FF-C81E-2DDA-0019504467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[2]</a:t>
            </a:r>
          </a:p>
          <a:p>
            <a:pPr lvl="1"/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효율적인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를 위한 가로방향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세로방향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가 순차적으로 일어 남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pPr lvl="1"/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[0] 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가로방향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blur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 </a:t>
            </a:r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세로방향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blur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 …</a:t>
            </a:r>
          </a:p>
          <a:p>
            <a:pPr lvl="1"/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  <a:sym typeface="Wingdings" panose="05000000000000000000" pitchFamily="2" charset="2"/>
              </a:rPr>
              <a:t>각 </a:t>
            </a:r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6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r>
              <a:rPr lang="ko-KR" altLang="en-US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는</a:t>
            </a:r>
            <a:r>
              <a:rPr lang="en-US" altLang="ko-KR" sz="16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Rendertarget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texture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ko-KR" altLang="en-US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한장</a:t>
            </a:r>
            <a:r>
              <a:rPr lang="ko-KR" altLang="en-US" dirty="0">
                <a:latin typeface="돋움체" panose="020B0609000101010101" pitchFamily="49" charset="-127"/>
                <a:ea typeface="돋움체" panose="020B0609000101010101" pitchFamily="49" charset="-127"/>
              </a:rPr>
              <a:t> 씩 </a:t>
            </a:r>
            <a:r>
              <a:rPr lang="en-US" altLang="ko-KR" dirty="0">
                <a:latin typeface="돋움체" panose="020B0609000101010101" pitchFamily="49" charset="-127"/>
                <a:ea typeface="돋움체" panose="020B0609000101010101" pitchFamily="49" charset="-127"/>
              </a:rPr>
              <a:t>attach :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</a:t>
            </a:r>
            <a:endParaRPr lang="en-US" altLang="ko-KR" dirty="0">
              <a:latin typeface="돋움체" panose="020B0609000101010101" pitchFamily="49" charset="-127"/>
              <a:ea typeface="돋움체" panose="020B060900010101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06782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39E84-B23F-3DB7-008E-0CE3A9A7F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(FBO</a:t>
            </a:r>
            <a:r>
              <a:rPr lang="ko-KR" altLang="en-US" dirty="0"/>
              <a:t> 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F2CF75-4AFF-CF24-BB1A-481FD352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glGenFramebuffers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glGenTextures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glTexImage2D(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GL_TEXTURE_2D, 0, GL_RGBA16F,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m_WindowSizeY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0, GL_RGBA, GL_FLOAT, NULL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GL_TEXTURE_MIN_FILTER,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GL_TEXTURE_MAG_FILTER, GL_LINEAR);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GL_TEXTURE_WRAP_S, GL_CLAMP_TO_EDGE);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glTexParameteri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GL_TEXTURE_WRAP_T, GL_CLAMP_TO_EDGE);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glFramebufferTexture2D(GL_FRAMEBUFFER, GL_COLOR_ATTACHMENT0, 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status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glCheckFramebufferStatus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if (status != GL_FRAMEBUFFER_COMPLETE)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cout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&lt;&lt;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creation failed" &lt;&lt; std::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endl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5966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VS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out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newPosition = vec4(a_Position,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newPosition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56424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FS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가로</a:t>
            </a:r>
            <a:r>
              <a:rPr lang="en-US" altLang="ko-KR" dirty="0"/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weight[5] = float[] (0.227027, 0.1945946, 0.1216216, 0.054054, 0.016216);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1.0 /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textureSize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 // gets size of single texel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weight[0]; // current fragment's contribution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for(int i = 1; i &lt; 5; ++i)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 vec2(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0.0)).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- vec2(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tex_offset.x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0.0)).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5363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FS </a:t>
            </a:r>
            <a:r>
              <a:rPr lang="ko-KR" altLang="en-US" dirty="0"/>
              <a:t>코드 </a:t>
            </a:r>
            <a:r>
              <a:rPr lang="en-US" altLang="ko-KR" dirty="0"/>
              <a:t>: </a:t>
            </a:r>
            <a:r>
              <a:rPr lang="ko-KR" altLang="en-US" dirty="0"/>
              <a:t>세로</a:t>
            </a:r>
            <a:r>
              <a:rPr lang="en-US" altLang="ko-KR" dirty="0"/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weight[5] = float[] (0.227027, 0.1945946, 0.1216216, 0.054054, 0.016216);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1.0 /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textureSize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0); // gets size of single texel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weight[0]; // current fragment's contribution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for(int i = 1; i &lt; 5; ++i)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 vec2(0.0,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    result +=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- vec2(0.0,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tex_offset.y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* weight[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i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];</a:t>
            </a:r>
          </a:p>
          <a:p>
            <a:r>
              <a:rPr lang="ko-KR" altLang="en-US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9394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A788BC-B72B-FFDC-3C00-1FF24C55D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Draw </a:t>
            </a:r>
            <a:r>
              <a:rPr lang="ko-KR" altLang="en-US" dirty="0"/>
              <a:t>코드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408248-3984-93E4-18F4-2242641F00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Renderer::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targetFBOID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shader)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targetFBOID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glUseProgram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glBindBuffer(GL_ARRAY_BUFFER,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m_FullRectVBO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3, GL_FLOAT, GL_FALSE, sizeof(float) * 5,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2, GL_FLOAT, GL_FALSE, sizeof(float) * 5, 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*)(sizeof(float) * 3));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glDrawArrays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(GL_TRIANGLES, 0, 6);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9394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A579E-800A-3100-44CA-EDB2EE7E5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HDR Texture</a:t>
            </a:r>
            <a:r>
              <a:rPr lang="ko-KR" altLang="en-US" dirty="0"/>
              <a:t>를</a:t>
            </a:r>
            <a:r>
              <a:rPr lang="en-US" altLang="ko-KR" dirty="0"/>
              <a:t> Blur </a:t>
            </a:r>
            <a:r>
              <a:rPr lang="ko-KR" altLang="en-US" dirty="0"/>
              <a:t>시켜 빛이 퍼지는 영역 생성 </a:t>
            </a:r>
            <a:r>
              <a:rPr lang="en-US" altLang="ko-KR" dirty="0"/>
              <a:t>( Draw </a:t>
            </a:r>
            <a:r>
              <a:rPr lang="ko-KR" altLang="en-US" dirty="0"/>
              <a:t>코드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E18C4A-0545-7191-4FED-BF068F9F8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20;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683130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Bloom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ko-KR" altLang="en-US" dirty="0"/>
              <a:t>원래 영상과 합성하여 최종 렌더링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pic>
        <p:nvPicPr>
          <p:cNvPr id="5122" name="Picture 2" descr="Bright regions extracted for glow or bloom effect are blurred in OpenGL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95" y="4847655"/>
            <a:ext cx="2465242" cy="1935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90" y="3119463"/>
            <a:ext cx="2714678" cy="2124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 of a HDR scene where we need to add the bloom or glow effect in OpenG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195" y="2543399"/>
            <a:ext cx="2484621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Example of the Bloom or Glow post-processing effect in OpenGL with HD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2996952"/>
            <a:ext cx="3810000" cy="2981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직선 화살표 연결선 7"/>
          <p:cNvCxnSpPr>
            <a:stCxn id="5" idx="3"/>
            <a:endCxn id="5122" idx="1"/>
          </p:cNvCxnSpPr>
          <p:nvPr/>
        </p:nvCxnSpPr>
        <p:spPr>
          <a:xfrm>
            <a:off x="3334068" y="4181581"/>
            <a:ext cx="1021127" cy="163368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십자형 8"/>
          <p:cNvSpPr/>
          <p:nvPr/>
        </p:nvSpPr>
        <p:spPr>
          <a:xfrm>
            <a:off x="5395988" y="4452820"/>
            <a:ext cx="512541" cy="476371"/>
          </a:xfrm>
          <a:prstGeom prst="plus">
            <a:avLst>
              <a:gd name="adj" fmla="val 37920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줄무늬가 있는 오른쪽 화살표 9"/>
          <p:cNvSpPr/>
          <p:nvPr/>
        </p:nvSpPr>
        <p:spPr>
          <a:xfrm>
            <a:off x="7029695" y="3733338"/>
            <a:ext cx="703110" cy="1878959"/>
          </a:xfrm>
          <a:prstGeom prst="striped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142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A5A03-84AC-E0AA-B368-51DBF7B4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(VS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1D59F-8C66-101A-4CB5-40401539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out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vec4 newPosition = vec4(a_Position,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newPosition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818897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1A5A03-84AC-E0AA-B368-51DBF7B47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(FS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91D59F-8C66-101A-4CB5-404015394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#version 330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layout(location=0) out vec4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in vec2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sampler2D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uniform float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u_Exposure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main()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       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const float gamma = 2.2;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hdrColor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     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texture(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u_TexSamplerBloom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v_TexPos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).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rgb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hdrColor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+=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 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// tone mapping</a:t>
            </a:r>
          </a:p>
          <a:p>
            <a:r>
              <a:rPr lang="es-E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vec3 result = vec3(1.0) - exp(-hdrColor * u_Exposure);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// also gamma correct while we're at it       </a:t>
            </a:r>
          </a:p>
          <a:p>
            <a:r>
              <a:rPr lang="sv-SE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result = pow(result, vec3(1.0 / gamma));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  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FragColor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vec4(result, 1.0);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91766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7A9998-B103-E1EB-0009-7C26BA4A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원래 영상과 합성하여 최종 렌더링</a:t>
            </a:r>
            <a:r>
              <a:rPr lang="en-US" altLang="ko-KR" dirty="0"/>
              <a:t> (DRAW 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77DFF2-CAC3-C7D6-90B1-0DCFA7B926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void Renderer::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DrawMergeBloomTexture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sceneTexID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float exposure)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shader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m_DrawMergeTextureShader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glUseProgram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a_Position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glGetAttribLocation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a_TexPos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glEnableVertexAttribArray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u_TextureScene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0);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glUniform1i(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u_TextureBloom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"), 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sceneTexID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glActiveTexture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(GL_TEXTURE1);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(GL_TEXTURE_2D,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bloomTexID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GLuint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exposureLoc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=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glGetUniformLocation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(shader, "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u_Exposure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");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glUniform1f(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exposureLoc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exposure);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glBindBuffer(GL_ARRAY_BUFFER,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m_FullRectVBO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posLoc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3, GL_FLOAT, GL_FALSE, sizeof(float) * 5, 0);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glVertexAttribPointer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texLoc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2, GL_FLOAT, GL_FALSE, sizeof(float) * 5, 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GLvoid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*)(sizeof(float) * 3));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glDrawArrays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(GL_TRIANGLES, 0, 6);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67169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D2788E-A61D-B0C5-31BE-FB4D603E3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전체</a:t>
            </a:r>
            <a:r>
              <a:rPr lang="en-US" altLang="ko-KR" dirty="0"/>
              <a:t> </a:t>
            </a:r>
            <a:r>
              <a:rPr lang="ko-KR" altLang="en-US" dirty="0"/>
              <a:t>흐름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F35749-64B6-8EA9-E95D-2DE0DDE44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GLenum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[2] = { GL_COLOR_ATTACHMENT0, GL_COLOR_ATTACHMENT1 };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(2,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drawbuffers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//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glClear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(GL_COLOR_BUFFER_BIT); 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DrawAlphaClear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DrawParticleEffect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glBindFramebuffer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(GL_FRAMEBUFFER, 0);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nn-NO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for (int i = 0; i &lt; 20; i++)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m_GaussianBlurVShader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DrawGaussianBlur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[1],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m_PingpongFBO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m_GaussianBlurHShader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}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(-0.75, -0.75, 128, 128,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);</a:t>
            </a:r>
          </a:p>
          <a:p>
            <a:r>
              <a:rPr lang="fr-FR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DrawTexture(-0.25, -0.75, 128, 128, m_PingpongTexture[0]);</a:t>
            </a:r>
          </a:p>
          <a:p>
            <a:endParaRPr lang="ko-KR" altLang="en-US" sz="1800" dirty="0">
              <a:latin typeface="돋움체" panose="020B0609000101010101" pitchFamily="49" charset="-127"/>
              <a:ea typeface="돋움체" panose="020B0609000101010101" pitchFamily="49" charset="-127"/>
            </a:endParaRPr>
          </a:p>
          <a:p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DrawMergeBloomTexture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(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m_HDRLowTexture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, </a:t>
            </a:r>
            <a:r>
              <a:rPr lang="en-US" altLang="ko-KR" sz="1800" dirty="0" err="1">
                <a:latin typeface="돋움체" panose="020B0609000101010101" pitchFamily="49" charset="-127"/>
                <a:ea typeface="돋움체" panose="020B0609000101010101" pitchFamily="49" charset="-127"/>
              </a:rPr>
              <a:t>m_PingpongTexture</a:t>
            </a:r>
            <a:r>
              <a:rPr lang="en-US" altLang="ko-KR" sz="1800" dirty="0">
                <a:latin typeface="돋움체" panose="020B0609000101010101" pitchFamily="49" charset="-127"/>
                <a:ea typeface="돋움체" panose="020B0609000101010101" pitchFamily="49" charset="-127"/>
              </a:rPr>
              <a:t>[0], 3.f);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2449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958</TotalTime>
  <Words>2347</Words>
  <Application>Microsoft Office PowerPoint</Application>
  <PresentationFormat>와이드스크린</PresentationFormat>
  <Paragraphs>275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돋움체</vt:lpstr>
      <vt:lpstr>맑은 고딕</vt:lpstr>
      <vt:lpstr>Arial</vt:lpstr>
      <vt:lpstr>Bookman Old Style</vt:lpstr>
      <vt:lpstr>Rockwell</vt:lpstr>
      <vt:lpstr>Damask</vt:lpstr>
      <vt:lpstr>셰이더 프로그래밍 Lecture6</vt:lpstr>
      <vt:lpstr>Bloom</vt:lpstr>
      <vt:lpstr>Bloom</vt:lpstr>
      <vt:lpstr>Bloom</vt:lpstr>
      <vt:lpstr>Bloom</vt:lpstr>
      <vt:lpstr>Bloom</vt:lpstr>
      <vt:lpstr>Color 의 세기를 HDR Texture에 출력</vt:lpstr>
      <vt:lpstr>Color 의 세기를 HDR Texture에 출력 (FBO 코드)</vt:lpstr>
      <vt:lpstr>Color 의 세기를 HDR Texture에 출력 (fs 코드)</vt:lpstr>
      <vt:lpstr>Color 의 세기를 HDR Texture에 출력 (draw  코드)</vt:lpstr>
      <vt:lpstr>Bloom</vt:lpstr>
      <vt:lpstr>HDR Texture를 Blur 시켜 빛이 퍼지는 영역 생성</vt:lpstr>
      <vt:lpstr>HDR Texture를 Blur 시켜 빛이 퍼지는 영역 생성 (FBO 코드)</vt:lpstr>
      <vt:lpstr>HDR Texture를 Blur 시켜 빛이 퍼지는 영역 생성 ( VS 코드)</vt:lpstr>
      <vt:lpstr>HDR Texture를 Blur 시켜 빛이 퍼지는 영역 생성 ( FS 코드 : 가로, m_GaussianBlurHShader)</vt:lpstr>
      <vt:lpstr>HDR Texture를 Blur 시켜 빛이 퍼지는 영역 생성 ( FS 코드 : 세로, m_GaussianBlurVShader)</vt:lpstr>
      <vt:lpstr>HDR Texture를 Blur 시켜 빛이 퍼지는 영역 생성 ( Draw 코드 )</vt:lpstr>
      <vt:lpstr>HDR Texture를 Blur 시켜 빛이 퍼지는 영역 생성 ( Draw 코드 )</vt:lpstr>
      <vt:lpstr>Bloom</vt:lpstr>
      <vt:lpstr>원래 영상과 합성하여 최종 렌더링 (VS 코드)</vt:lpstr>
      <vt:lpstr>원래 영상과 합성하여 최종 렌더링 (FS 코드)</vt:lpstr>
      <vt:lpstr>원래 영상과 합성하여 최종 렌더링 (DRAW 코드)</vt:lpstr>
      <vt:lpstr>전체 흐름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고급그래픽스효과</dc:title>
  <dc:creator>Microsoft Corporation</dc:creator>
  <cp:lastModifiedBy>민지용(2021182012)</cp:lastModifiedBy>
  <cp:revision>71</cp:revision>
  <dcterms:created xsi:type="dcterms:W3CDTF">2006-10-05T04:04:58Z</dcterms:created>
  <dcterms:modified xsi:type="dcterms:W3CDTF">2025-12-02T05:22:34Z</dcterms:modified>
</cp:coreProperties>
</file>